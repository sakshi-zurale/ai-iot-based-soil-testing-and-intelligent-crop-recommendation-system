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KrushiAI, the team, the guide and the Smart Farming x Intelligent India theme. Artwork is illustrative vector art; replace with real photographs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 sections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traditional decision-making challenges. Right: data-assisted workflow. We do not claim guaranteed yield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 cards around the farmer, with the SOIL DATA to FARMER REPORT flow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React UI, data collection (ESP32/NPK sensor or manual entry), FastAPI backend, Random Forest AI layer and PDF outputs. Only confirm implemented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N, P, K roles, plus moisture, temperature and humidity. No sensor accuracy claims are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from inputs to ranked crops. No accuracy or evaluation metrics are stated because none were supplied. Verify which fields are actual model inputs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are illustrative placeholders. Replace with real application screenshots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details only: Design Registration No. 511438-001, Serial No. 251878, Class 10-05, registered 30 July 2026. Do not describe this as a patent.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lists current capabilities. Future scope items are proposals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USHI_LIGHT">
    <p:bg>
      <p:bgPr>
        <a:solidFill>
          <a:srgbClr val="F7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E"/>
                </a:solidFill>
              </a:rPr>
              <a:t>KrushiAI  |  Industry 4.0 PBL  |  Sanjivani College of Engineering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USHI_DARK">
    <p:bg>
      <p:bgPr>
        <a:solidFill>
          <a:srgbClr val="123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7B0"/>
                </a:solidFill>
              </a:rPr>
              <a:t>KrushiAI  |  Industry 4.0 PBL  |  Sanjivani College of Engineering</a:t>
            </a:r>
            <a:endParaRPr lang="en-US" sz="1000" dirty="0"/>
          </a:p>
        </p:txBody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9C7B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USHI_CLEAN">
    <p:bg>
      <p:bgPr>
        <a:solidFill>
          <a:srgbClr val="123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8.png"/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png"/><Relationship Id="rId7" Type="http://schemas.openxmlformats.org/officeDocument/2006/relationships/image" Target="../media/image5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0.jpe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16.png"/><Relationship Id="rId7" Type="http://schemas.openxmlformats.org/officeDocument/2006/relationships/image" Target="../media/image6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3.png"/><Relationship Id="rId3" Type="http://schemas.openxmlformats.org/officeDocument/2006/relationships/image" Target="../media/image22.png"/><Relationship Id="rId2" Type="http://schemas.openxmlformats.org/officeDocument/2006/relationships/image" Target="../media/image32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B949"/>
                </a:solidFill>
              </a:rPr>
              <a:t>SANJIVANI COLLEGE OF ENGINEERING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7F5E9"/>
                </a:solidFill>
              </a:rPr>
              <a:t>DEPARTMENT OF ELECTRONICS AND COMPUTER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2E7D32">
              <a:alpha val="85000"/>
            </a:srgbClr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INDUSTRY 4.0 | PROJECT-BASED LEARNING (PBL)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Krushi</a:t>
            </a:r>
            <a:r>
              <a:rPr lang="en-US" sz="8400" b="1" dirty="0">
                <a:solidFill>
                  <a:srgbClr val="78B947"/>
                </a:solidFill>
                <a:latin typeface="+mj-lt"/>
                <a:ea typeface="+mj-lt"/>
                <a:cs typeface="+mj-lt"/>
              </a:rPr>
              <a:t>AI</a:t>
            </a:r>
            <a:endParaRPr lang="en-US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AI-IoT based soil testing and intelligent crop recommendation system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680960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0A2619">
              <a:alpha val="70000"/>
            </a:srgbClr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4572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9B949"/>
                </a:solidFill>
              </a:rPr>
              <a:t>SMART FARMING × INTELLIGENT INDIA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9B949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3246120" cy="868680"/>
          </a:xfrm>
          <a:prstGeom prst="roundRect">
            <a:avLst>
              <a:gd name="adj" fmla="val 10526"/>
            </a:avLst>
          </a:prstGeom>
          <a:solidFill>
            <a:srgbClr val="0A2619">
              <a:alpha val="75000"/>
            </a:srgbClr>
          </a:solidFill>
          <a:ln w="9525">
            <a:solidFill>
              <a:srgbClr val="78B9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Sakshi Ramdas Zurale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937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E3B0"/>
                </a:solidFill>
              </a:rPr>
              <a:t>UEC23F1069  |  Roll No. 69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4709160"/>
            <a:ext cx="3246120" cy="868680"/>
          </a:xfrm>
          <a:prstGeom prst="roundRect">
            <a:avLst>
              <a:gd name="adj" fmla="val 10526"/>
            </a:avLst>
          </a:prstGeom>
          <a:solidFill>
            <a:srgbClr val="0A2619">
              <a:alpha val="75000"/>
            </a:srgbClr>
          </a:solidFill>
          <a:ln w="9525">
            <a:solidFill>
              <a:srgbClr val="78B9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48463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Sakshi Vijay Thakare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51937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E3B0"/>
                </a:solidFill>
              </a:rPr>
              <a:t>UEC23F1064  |  Roll No. 64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6629400" cy="548640"/>
          </a:xfrm>
          <a:prstGeom prst="roundRect">
            <a:avLst>
              <a:gd name="adj" fmla="val 16667"/>
            </a:avLst>
          </a:prstGeom>
          <a:solidFill>
            <a:srgbClr val="0A2619">
              <a:alpha val="75000"/>
            </a:srgbClr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7607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B949"/>
                </a:solidFill>
              </a:rPr>
              <a:t>PROJECT GUIDE    </a:t>
            </a:r>
            <a:r>
              <a:rPr lang="en-US" sz="1600" b="1" dirty="0">
                <a:solidFill>
                  <a:srgbClr val="FFFFFF"/>
                </a:solidFill>
              </a:rPr>
              <a:t>Prof. A. D. Sangale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19072"/>
            <a:ext cx="685800" cy="6858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69948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8745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Introduction and Problem Statement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69080" y="205740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4340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1907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8699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600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18745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Objectives and Proposed Solution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863840" y="205740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13816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1719072"/>
            <a:ext cx="685800" cy="6858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8699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0" y="1600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235440" y="18745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KrushiAI System Architecture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30175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36499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5158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3246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35204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Soil Testing and NPK Monitoring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069080" y="370332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4343400" y="30175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0" y="3364992"/>
            <a:ext cx="685800" cy="6858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351586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40680" y="3246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440680" y="35204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Crop Recommendation Methodology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863840" y="370332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8138160" y="30175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66760" y="336499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3515868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235440" y="3246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9235440" y="35204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Implementation and Application Workflow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548640" y="4663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77240" y="5010912"/>
            <a:ext cx="685800" cy="6858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" y="5161788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64592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645920" y="5166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Results and Report Generation</a:t>
            </a:r>
            <a:endParaRPr lang="en-US" sz="1500" dirty="0"/>
          </a:p>
        </p:txBody>
      </p:sp>
      <p:sp>
        <p:nvSpPr>
          <p:cNvPr id="42" name="Shape 33"/>
          <p:cNvSpPr/>
          <p:nvPr/>
        </p:nvSpPr>
        <p:spPr>
          <a:xfrm>
            <a:off x="4069080" y="534924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4343400" y="4663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572000" y="501091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2876" y="5161788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44068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08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5440680" y="5166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Innovation and Patent Registration</a:t>
            </a:r>
            <a:endParaRPr lang="en-US" sz="1500" dirty="0"/>
          </a:p>
        </p:txBody>
      </p:sp>
      <p:sp>
        <p:nvSpPr>
          <p:cNvPr id="48" name="Shape 38"/>
          <p:cNvSpPr/>
          <p:nvPr/>
        </p:nvSpPr>
        <p:spPr>
          <a:xfrm>
            <a:off x="7863840" y="5349240"/>
            <a:ext cx="274320" cy="0"/>
          </a:xfrm>
          <a:prstGeom prst="line">
            <a:avLst/>
          </a:prstGeom>
          <a:noFill/>
          <a:ln w="25400">
            <a:solidFill>
              <a:srgbClr val="78B947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8138160" y="4663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8366760" y="5010912"/>
            <a:ext cx="685800" cy="6858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7636" y="5161788"/>
            <a:ext cx="384048" cy="38404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23544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28F12"/>
                </a:solidFill>
              </a:rPr>
              <a:t>09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9235440" y="5166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 and Future Scope</a:t>
            </a:r>
            <a:endParaRPr lang="en-US" sz="15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Smart Crop Selection Matters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94960" cy="23774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39496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1089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955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decision-making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428232" y="31089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28232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Data-assisted workflow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3913632"/>
            <a:ext cx="457200" cy="45720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0142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44622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Crop choices depend on soil conditions and local context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383280" y="3794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66160" y="391363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40142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566160" y="44622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Manual assessment can be slow, with no integrated view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217920" y="3794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00800" y="3913632"/>
            <a:ext cx="457200" cy="45720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01421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0" y="44622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Nutrients, moisture, temperature and humidity can shape suitability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9052560" y="3794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9235440" y="391363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4014216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35440" y="44622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Farmers need clear, accessible and actionable guidance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949"/>
                </a:solidFill>
              </a:rPr>
              <a:t>KrushiAI </a:t>
            </a:r>
            <a:r>
              <a:rPr lang="en-US" sz="1500" dirty="0">
                <a:solidFill>
                  <a:srgbClr val="F7F5E9"/>
                </a:solidFill>
              </a:rPr>
              <a:t>is an intelligent farming platform that supports informed crop-selection decisions through soil measurements, machine learning and location-related analysis.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Our Vision: Smarter Decisions for Every Field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63440" y="2011680"/>
            <a:ext cx="365760" cy="640080"/>
          </a:xfrm>
          <a:prstGeom prst="line">
            <a:avLst/>
          </a:prstGeom>
          <a:noFill/>
          <a:ln w="25400">
            <a:solidFill>
              <a:srgbClr val="78B947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flipV="1">
            <a:off x="4663440" y="3108960"/>
            <a:ext cx="365760" cy="594360"/>
          </a:xfrm>
          <a:prstGeom prst="line">
            <a:avLst/>
          </a:prstGeom>
          <a:noFill/>
          <a:ln w="25400">
            <a:solidFill>
              <a:srgbClr val="78B94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7132320" y="2011680"/>
            <a:ext cx="393192" cy="640080"/>
          </a:xfrm>
          <a:prstGeom prst="line">
            <a:avLst/>
          </a:prstGeom>
          <a:noFill/>
          <a:ln w="25400">
            <a:solidFill>
              <a:srgbClr val="78B94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132320" y="3108960"/>
            <a:ext cx="393192" cy="594360"/>
          </a:xfrm>
          <a:prstGeom prst="line">
            <a:avLst/>
          </a:prstGeom>
          <a:noFill/>
          <a:ln w="25400">
            <a:solidFill>
              <a:srgbClr val="78B94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69529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463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Soil Intelligence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Collect or enter soil nutrient measurements and environmental readings.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38693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00200" y="3154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AI-Based Crop Recommendation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52044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Use a machine-learning model to rank candidate crops using supported input features.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525512" y="128016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54112" y="15544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0" y="169529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2" y="1463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Location-Aware Analysis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2" y="1828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Capture farmer and farm location details to support location-related analysis.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525512" y="297180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54112" y="32461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0" y="338693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577072" y="3154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Accessible Reporting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577072" y="352044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Downloadable soil-analysis and crop-recommendation reports in English and English + Marathi.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873752" y="1691640"/>
            <a:ext cx="2468880" cy="24688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55648"/>
            <a:ext cx="2340864" cy="2340864"/>
          </a:xfrm>
          <a:prstGeom prst="ellipse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48640" y="475488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48640" y="47548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SOIL DATA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2788920" y="5052060"/>
            <a:ext cx="22250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3057144" y="475488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057144" y="47548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297424" y="5052060"/>
            <a:ext cx="22250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565648" y="475488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565648" y="475488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AI CROP RECOMMENDATIONS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177528" y="5052060"/>
            <a:ext cx="22250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445752" y="475488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445752" y="47548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FARMER REPORT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4037"/>
                </a:solidFill>
              </a:rPr>
              <a:t>Designed to support decisions, improve access to information and present recommendations clearly. It does not guarantee profit, crop yield or universal suitability.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Soil Signals to Intelligent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2468880" cy="1874520"/>
          </a:xfrm>
          <a:prstGeom prst="roundRect">
            <a:avLst>
              <a:gd name="adj" fmla="val 6829"/>
            </a:avLst>
          </a:prstGeom>
          <a:solidFill>
            <a:srgbClr val="E4F1D9"/>
          </a:solidFill>
          <a:ln w="19050">
            <a:solidFill>
              <a:srgbClr val="78B9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09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</a:rPr>
              <a:t>LAYER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9280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Interface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7282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9091" y="1812707"/>
            <a:ext cx="215067" cy="215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31343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React frontend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Farmer &amp; farm details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Manual soil-data entry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Results &amp; recommendations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PDF download options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3611880"/>
            <a:ext cx="2468880" cy="1828800"/>
          </a:xfrm>
          <a:prstGeom prst="roundRect">
            <a:avLst>
              <a:gd name="adj" fmla="val 7000"/>
            </a:avLst>
          </a:prstGeom>
          <a:solidFill>
            <a:srgbClr val="E4F1D9"/>
          </a:solidFill>
          <a:ln w="19050">
            <a:solidFill>
              <a:srgbClr val="78B9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7216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</a:rPr>
              <a:t>LAYER 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0448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14600" y="373989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91" y="3824387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7240" y="4325112"/>
            <a:ext cx="21488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NPK sensor readings (where hardware is used)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Manual N, P, K entry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</a:rPr>
              <a:t>Soil moisture, air temperature, humidity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20440" y="1600200"/>
            <a:ext cx="2377440" cy="3840480"/>
          </a:xfrm>
          <a:prstGeom prst="roundRect">
            <a:avLst>
              <a:gd name="adj" fmla="val 5385"/>
            </a:avLst>
          </a:prstGeom>
          <a:solidFill>
            <a:srgbClr val="E4F1D9"/>
          </a:solidFill>
          <a:ln w="19050">
            <a:solidFill>
              <a:srgbClr val="78B9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703320" y="1709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</a:rPr>
              <a:t>LAYER 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189280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349240" y="17282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31" y="1812707"/>
            <a:ext cx="215067" cy="21506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03320" y="2313432"/>
            <a:ext cx="205740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Python + FastAPI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Input validation and processing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Soil analysis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Location-related analysis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Recommendation workflow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55080" y="1600200"/>
            <a:ext cx="2377440" cy="3840480"/>
          </a:xfrm>
          <a:prstGeom prst="roundRect">
            <a:avLst>
              <a:gd name="adj" fmla="val 5385"/>
            </a:avLst>
          </a:prstGeom>
          <a:solidFill>
            <a:srgbClr val="E4F1D9"/>
          </a:solidFill>
          <a:ln w="19050">
            <a:solidFill>
              <a:srgbClr val="78B94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537960" y="1709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</a:rPr>
              <a:t>LAYER 4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189280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&amp; Knowledge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183880" y="17282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371" y="1812707"/>
            <a:ext cx="215067" cy="215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537960" y="2313432"/>
            <a:ext cx="205740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Scikit-learn Random Forest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Crop prediction / ranking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Local knowledge retrieval (where implemented)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Recommendation explanation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189720" y="1600200"/>
            <a:ext cx="2377440" cy="3840480"/>
          </a:xfrm>
          <a:prstGeom prst="roundRect">
            <a:avLst>
              <a:gd name="adj" fmla="val 5385"/>
            </a:avLst>
          </a:prstGeom>
          <a:solidFill>
            <a:srgbClr val="E4F1D9"/>
          </a:solidFill>
          <a:ln w="19050">
            <a:solidFill>
              <a:srgbClr val="78B94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372600" y="1709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</a:rPr>
              <a:t>LAYER 5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372600" y="189280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1018520" y="17282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011" y="1812707"/>
            <a:ext cx="215067" cy="21506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372600" y="2313432"/>
            <a:ext cx="205740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Soil analysis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Ranked crop recommendations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Suitability labels &amp; model scores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English PDF report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3A2A"/>
                </a:solidFill>
              </a:rPr>
              <a:t>Bilingual English + Marathi PDF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3063240" y="2651760"/>
            <a:ext cx="457200" cy="0"/>
          </a:xfrm>
          <a:prstGeom prst="line">
            <a:avLst/>
          </a:prstGeom>
          <a:noFill/>
          <a:ln w="34925">
            <a:solidFill>
              <a:srgbClr val="123D2A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3063240" y="4389120"/>
            <a:ext cx="457200" cy="0"/>
          </a:xfrm>
          <a:prstGeom prst="line">
            <a:avLst/>
          </a:prstGeom>
          <a:noFill/>
          <a:ln w="34925">
            <a:solidFill>
              <a:srgbClr val="123D2A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897880" y="3520440"/>
            <a:ext cx="457200" cy="0"/>
          </a:xfrm>
          <a:prstGeom prst="line">
            <a:avLst/>
          </a:prstGeom>
          <a:noFill/>
          <a:ln w="34925">
            <a:solidFill>
              <a:srgbClr val="123D2A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8732520" y="3520440"/>
            <a:ext cx="457200" cy="0"/>
          </a:xfrm>
          <a:prstGeom prst="line">
            <a:avLst/>
          </a:prstGeom>
          <a:noFill/>
          <a:ln w="34925">
            <a:solidFill>
              <a:srgbClr val="123D2A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10378440" y="1325880"/>
            <a:ext cx="0" cy="274320"/>
          </a:xfrm>
          <a:prstGeom prst="line">
            <a:avLst/>
          </a:prstGeom>
          <a:noFill/>
          <a:ln w="28575">
            <a:solidFill>
              <a:srgbClr val="E9B949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>
            <a:off x="1828800" y="1325880"/>
            <a:ext cx="8549640" cy="0"/>
          </a:xfrm>
          <a:prstGeom prst="line">
            <a:avLst/>
          </a:prstGeom>
          <a:noFill/>
          <a:ln w="28575">
            <a:solidFill>
              <a:srgbClr val="E9B949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>
            <a:off x="1828800" y="1325880"/>
            <a:ext cx="0" cy="274320"/>
          </a:xfrm>
          <a:prstGeom prst="line">
            <a:avLst/>
          </a:prstGeom>
          <a:noFill/>
          <a:ln w="28575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4023360" y="1188720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F7F5E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4023360" y="11887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95548"/>
                </a:solidFill>
              </a:rPr>
              <a:t>Results shown in the UI  ·  reports downloaded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594360" y="5669280"/>
            <a:ext cx="457200" cy="45720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769864"/>
            <a:ext cx="256032" cy="256032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097280" y="5897880"/>
            <a:ext cx="320040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1463040" y="56692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624" y="5769864"/>
            <a:ext cx="256032" cy="25603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1965960" y="5897880"/>
            <a:ext cx="320040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2331720" y="5669280"/>
            <a:ext cx="457200" cy="45720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5769864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3337560" y="5669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Soil  →  sensor / entry  →  AI recommendation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7040880" y="5669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4037"/>
                </a:solidFill>
              </a:rPr>
              <a:t>Items marked "where…" depend on the deployed setup. Future enhancements are listed on slide 10.</a:t>
            </a:r>
            <a:endParaRPr lang="en-US" sz="12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Understanding the Soil Beneath Every Crop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3611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66160" y="2304288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123D2A"/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566160" y="230428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 / IoT gateway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422452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23D2A"/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0" y="4224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NPK soil probe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03720" y="1280160"/>
            <a:ext cx="47365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86600" y="1371600"/>
            <a:ext cx="914400" cy="914400"/>
          </a:xfrm>
          <a:prstGeom prst="ellipse">
            <a:avLst/>
          </a:prstGeom>
          <a:solidFill>
            <a:srgbClr val="78B947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N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13898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Nitrogen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70992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Supports vegetative growth and leaf development.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03720" y="2514600"/>
            <a:ext cx="47365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86600" y="2606040"/>
            <a:ext cx="914400" cy="914400"/>
          </a:xfrm>
          <a:prstGeom prst="ellipse">
            <a:avLst/>
          </a:prstGeom>
          <a:solidFill>
            <a:srgbClr val="E9B949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086600" y="26060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3D2A"/>
                </a:solidFill>
                <a:latin typeface="+mj-lt"/>
                <a:ea typeface="+mj-lt"/>
                <a:cs typeface="+mj-lt"/>
              </a:rPr>
              <a:t>P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624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Phosphorus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29443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Contributes to root development and energy-transfer processes.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03720" y="3749040"/>
            <a:ext cx="47365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86600" y="3840480"/>
            <a:ext cx="914400" cy="914400"/>
          </a:xfrm>
          <a:prstGeom prst="ellipse">
            <a:avLst/>
          </a:prstGeom>
          <a:solidFill>
            <a:srgbClr val="C8743A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086600" y="38404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K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587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Potassium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17880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</a:rPr>
              <a:t>Supports water regulation and multiple plant functions.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074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 · P · K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468880" y="50749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+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2788920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88920" y="5074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Soil moisture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709160" y="50749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+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029200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0" y="5074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Air temperature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50749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+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7269480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69480" y="5074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Humidity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555480" y="5326380"/>
            <a:ext cx="457200" cy="0"/>
          </a:xfrm>
          <a:prstGeom prst="line">
            <a:avLst/>
          </a:prstGeom>
          <a:noFill/>
          <a:ln w="381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058400" y="507492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23D2A"/>
          </a:solidFill>
          <a:ln w="19050">
            <a:solidFill>
              <a:srgbClr val="E9B94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058400" y="5074920"/>
            <a:ext cx="1581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B949"/>
                </a:solidFill>
              </a:rPr>
              <a:t>SOIL ANALYSIS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6235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</a:rPr>
              <a:t>Measured or entered inputs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692640" y="5623560"/>
            <a:ext cx="194767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95548"/>
                </a:solidFill>
              </a:rPr>
              <a:t>Derived analysis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4037"/>
                </a:solidFill>
              </a:rPr>
              <a:t>Readings should be interpreted according to sensor calibration and the applicable measurement method. Measured or entered values are kept distinct from model-generated information.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KrushiAI Recommends Crops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13232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238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Collect Inputs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Soil and environmental inputs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2103120"/>
            <a:ext cx="24323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37790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602382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02382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238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02382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 &amp; Process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602382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Check and prepare input values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083710" y="2103120"/>
            <a:ext cx="24323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26941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491533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91533" y="1783080"/>
            <a:ext cx="640080" cy="64008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350" y="192389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491533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Forest Model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491533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Trained model uses supported features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72861" y="2103120"/>
            <a:ext cx="24323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216091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6380683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380683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192389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80683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 Candidate Crops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380683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Candidate crops are ranked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862011" y="2103120"/>
            <a:ext cx="24323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105242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8269834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269834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651" y="1923898"/>
            <a:ext cx="358445" cy="35844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269834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Present Results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8269834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Scores and supporting information shown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9751162" y="2103120"/>
            <a:ext cx="24323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994392" y="1371600"/>
            <a:ext cx="164592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10158984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8F12"/>
                </a:solidFill>
              </a:rPr>
              <a:t>06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10158984" y="1783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802" y="1923898"/>
            <a:ext cx="358445" cy="35844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158984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Farmer Review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10158984" y="3108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Farmer reviews the results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548640" y="4160520"/>
            <a:ext cx="6949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8D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5212080" y="42245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8909C"/>
                </a:solidFill>
              </a:rPr>
              <a:t>Illustrative output layout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868680" y="4754880"/>
            <a:ext cx="731520" cy="73152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" y="4915814"/>
            <a:ext cx="409651" cy="409651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31520" y="55778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Soil data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1691640" y="5120640"/>
            <a:ext cx="36576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2148840" y="4526280"/>
            <a:ext cx="1097280" cy="109728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42" y="4767682"/>
            <a:ext cx="614477" cy="614477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965960" y="56692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3337560" y="5120640"/>
            <a:ext cx="36576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3794760" y="452628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8B9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3931920" y="4526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D2A"/>
                </a:solidFill>
              </a:rPr>
              <a:t>1   Crop A</a:t>
            </a:r>
            <a:endParaRPr lang="en-US" sz="1300" dirty="0"/>
          </a:p>
        </p:txBody>
      </p:sp>
      <p:sp>
        <p:nvSpPr>
          <p:cNvPr id="56" name="Shape 46"/>
          <p:cNvSpPr/>
          <p:nvPr/>
        </p:nvSpPr>
        <p:spPr>
          <a:xfrm>
            <a:off x="3794760" y="502920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A5D07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3931920" y="5029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D2A"/>
                </a:solidFill>
              </a:rPr>
              <a:t>2   Crop B</a:t>
            </a:r>
            <a:endParaRPr lang="en-US" sz="1300" dirty="0"/>
          </a:p>
        </p:txBody>
      </p:sp>
      <p:sp>
        <p:nvSpPr>
          <p:cNvPr id="58" name="Shape 48"/>
          <p:cNvSpPr/>
          <p:nvPr/>
        </p:nvSpPr>
        <p:spPr>
          <a:xfrm>
            <a:off x="3794760" y="553212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C8E3B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3931920" y="55321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D2A"/>
                </a:solidFill>
              </a:rPr>
              <a:t>3   Crop C</a:t>
            </a:r>
            <a:endParaRPr lang="en-US" sz="1300" dirty="0"/>
          </a:p>
        </p:txBody>
      </p:sp>
      <p:sp>
        <p:nvSpPr>
          <p:cNvPr id="60" name="Shape 50"/>
          <p:cNvSpPr/>
          <p:nvPr/>
        </p:nvSpPr>
        <p:spPr>
          <a:xfrm>
            <a:off x="5897880" y="5120640"/>
            <a:ext cx="320040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61" name="Shape 51"/>
          <p:cNvSpPr/>
          <p:nvPr/>
        </p:nvSpPr>
        <p:spPr>
          <a:xfrm>
            <a:off x="6263640" y="475488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4574" y="4915814"/>
            <a:ext cx="409651" cy="409651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6126480" y="55778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Report</a:t>
            </a:r>
            <a:endParaRPr lang="en-US" sz="1200" dirty="0"/>
          </a:p>
        </p:txBody>
      </p:sp>
      <p:sp>
        <p:nvSpPr>
          <p:cNvPr id="64" name="Shape 53"/>
          <p:cNvSpPr/>
          <p:nvPr/>
        </p:nvSpPr>
        <p:spPr>
          <a:xfrm>
            <a:off x="7772400" y="4160520"/>
            <a:ext cx="3867912" cy="1965960"/>
          </a:xfrm>
          <a:prstGeom prst="roundRect">
            <a:avLst>
              <a:gd name="adj" fmla="val 5581"/>
            </a:avLst>
          </a:prstGeom>
          <a:solidFill>
            <a:srgbClr val="123D2A"/>
          </a:solidFill>
          <a:ln w="19050">
            <a:solidFill>
              <a:srgbClr val="E9B949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8001000" y="4315968"/>
            <a:ext cx="3429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B949"/>
                </a:solidFill>
              </a:rPr>
              <a:t>A model score is not a guaranteed probability of crop success, yield or profit.</a:t>
            </a:r>
            <a:endParaRPr lang="en-US" sz="1500" dirty="0"/>
          </a:p>
        </p:txBody>
      </p:sp>
      <p:sp>
        <p:nvSpPr>
          <p:cNvPr id="66" name="Text 55"/>
          <p:cNvSpPr txBox="1"/>
          <p:nvPr/>
        </p:nvSpPr>
        <p:spPr>
          <a:xfrm>
            <a:off x="8001000" y="525780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7F5E9"/>
                </a:solidFill>
              </a:rPr>
              <a:t>Model inputs: supported soil and environmental features. Location details support location-related analysis.</a:t>
            </a:r>
            <a:endParaRPr lang="en-US" sz="130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Field Inputs to Farmer-Friendly Reports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Farmer details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7712" y="1645920"/>
            <a:ext cx="140818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15845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7285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7285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64485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Soil input / sensor readings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34917" y="1645920"/>
            <a:ext cx="140818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83050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4490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4490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31690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Soil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2122" y="1645920"/>
            <a:ext cx="140818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50254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1694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1694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98894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Location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9326" y="1645920"/>
            <a:ext cx="140818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17459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8899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08899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66099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crop recommendations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36531" y="1645920"/>
            <a:ext cx="140818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84664" y="1280160"/>
            <a:ext cx="1719072" cy="7315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76104" y="1463040"/>
            <a:ext cx="365760" cy="3657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76104" y="1463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D2A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433304" y="128016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 generation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78B947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2286000"/>
            <a:ext cx="24231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26517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E4F1D9"/>
          </a:solidFill>
          <a:ln w="12700">
            <a:solidFill>
              <a:srgbClr val="E4F1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26517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E4F1D9"/>
          </a:solidFill>
          <a:ln w="12700">
            <a:solidFill>
              <a:srgbClr val="E4F1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0280" y="26517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E4F1D9"/>
          </a:solidFill>
          <a:ln w="12700">
            <a:solidFill>
              <a:srgbClr val="E4F1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3840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720" y="3703320"/>
            <a:ext cx="274320" cy="411480"/>
          </a:xfrm>
          <a:prstGeom prst="roundRect">
            <a:avLst>
              <a:gd name="adj" fmla="val 16667"/>
            </a:avLst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0" y="3566160"/>
            <a:ext cx="274320" cy="548640"/>
          </a:xfrm>
          <a:prstGeom prst="roundRect">
            <a:avLst>
              <a:gd name="adj" fmla="val 16667"/>
            </a:avLst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429000"/>
            <a:ext cx="274320" cy="685800"/>
          </a:xfrm>
          <a:prstGeom prst="roundRect">
            <a:avLst>
              <a:gd name="adj" fmla="val 16667"/>
            </a:avLst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3291840"/>
            <a:ext cx="274320" cy="822960"/>
          </a:xfrm>
          <a:prstGeom prst="roundRect">
            <a:avLst>
              <a:gd name="adj" fmla="val 16667"/>
            </a:avLst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37083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8909C"/>
                </a:solidFill>
              </a:rPr>
              <a:t>SCREENSHOT PLACEHOLDER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7183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Application dashboard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364992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78B947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56432" y="2286000"/>
            <a:ext cx="24231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47872" y="26517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79392" y="267004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4EBDD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47872" y="299923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79392" y="3017520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4EBDD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47872" y="33467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</a:rPr>
              <a:t>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79392" y="3364992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4EBDD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547872" y="3694176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</a:rPr>
              <a:t>Moisture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79392" y="3712464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4EBDD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96512" y="3977640"/>
            <a:ext cx="1097280" cy="228600"/>
          </a:xfrm>
          <a:prstGeom prst="roundRect">
            <a:avLst>
              <a:gd name="adj" fmla="val 6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364992" y="437083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8909C"/>
                </a:solidFill>
              </a:rPr>
              <a:t>SCREENSHOT PLACEHOLDER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3364992" y="47183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Soil input / sensor screen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81344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78B947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72784" y="2286000"/>
            <a:ext cx="24231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64224" y="269748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C8E3B0"/>
          </a:solidFill>
          <a:ln w="9525">
            <a:solidFill>
              <a:srgbClr val="78B94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01384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D2A"/>
                </a:solidFill>
              </a:rPr>
              <a:t>1   Candidate crop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64224" y="315468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DDEFC9"/>
          </a:solidFill>
          <a:ln w="9525">
            <a:solidFill>
              <a:srgbClr val="78B94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01384" y="31546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D2A"/>
                </a:solidFill>
              </a:rPr>
              <a:t>2   Candidate crop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64224" y="361188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EBF5E0"/>
          </a:solidFill>
          <a:ln w="9525">
            <a:solidFill>
              <a:srgbClr val="78B94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01384" y="3611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D2A"/>
                </a:solidFill>
              </a:rPr>
              <a:t>3   Candidate crop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181344" y="437083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8909C"/>
                </a:solidFill>
              </a:rPr>
              <a:t>SCREENSHOT PLACEHOLDER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6181344" y="47183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Crop recommendation results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997696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78B947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089136" y="2286000"/>
            <a:ext cx="24231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26296" y="2697480"/>
            <a:ext cx="1005840" cy="1325880"/>
          </a:xfrm>
          <a:prstGeom prst="rect">
            <a:avLst/>
          </a:prstGeom>
          <a:solidFill>
            <a:srgbClr val="F7F5E9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36024" y="2834640"/>
            <a:ext cx="786384" cy="109728"/>
          </a:xfrm>
          <a:prstGeom prst="roundRect">
            <a:avLst>
              <a:gd name="adj" fmla="val 41667"/>
            </a:avLst>
          </a:prstGeom>
          <a:solidFill>
            <a:srgbClr val="C8E3B0"/>
          </a:solidFill>
          <a:ln w="12700">
            <a:solidFill>
              <a:srgbClr val="C8E3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336024" y="306324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336024" y="3246120"/>
            <a:ext cx="731520" cy="109728"/>
          </a:xfrm>
          <a:prstGeom prst="roundRect">
            <a:avLst>
              <a:gd name="adj" fmla="val 41667"/>
            </a:avLst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226296" y="37033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D2A"/>
                </a:solidFill>
              </a:rPr>
              <a:t>English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369296" y="2697480"/>
            <a:ext cx="1005840" cy="1325880"/>
          </a:xfrm>
          <a:prstGeom prst="rect">
            <a:avLst/>
          </a:prstGeom>
          <a:solidFill>
            <a:srgbClr val="F7F5E9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79024" y="2834640"/>
            <a:ext cx="786384" cy="109728"/>
          </a:xfrm>
          <a:prstGeom prst="roundRect">
            <a:avLst>
              <a:gd name="adj" fmla="val 41667"/>
            </a:avLst>
          </a:prstGeom>
          <a:solidFill>
            <a:srgbClr val="C8E3B0"/>
          </a:solidFill>
          <a:ln w="12700">
            <a:solidFill>
              <a:srgbClr val="C8E3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79024" y="306324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79024" y="3246120"/>
            <a:ext cx="731520" cy="109728"/>
          </a:xfrm>
          <a:prstGeom prst="roundRect">
            <a:avLst>
              <a:gd name="adj" fmla="val 41667"/>
            </a:avLst>
          </a:prstGeom>
          <a:solidFill>
            <a:srgbClr val="DDE5D3"/>
          </a:solidFill>
          <a:ln w="12700">
            <a:solidFill>
              <a:srgbClr val="DDE5D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369296" y="37033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D2A"/>
                </a:solidFill>
              </a:rPr>
              <a:t>EN + मराठी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8997696" y="437083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8909C"/>
                </a:solidFill>
              </a:rPr>
              <a:t>SCREENSHOT PLACEHOLDER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8997696" y="47183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English and bilingual reports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48640" y="51389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28F12"/>
                </a:solidFill>
              </a:rPr>
              <a:t>IMPLEMENTED DELIVERABLES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48640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21792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Farmer &amp; farm information capture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150669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223821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Manual soil entry + sensor workflow (where implemented)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752698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825850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AI crop recommendations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354726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427878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Soil analysis results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956755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029907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Location-related analysis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8558784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631936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English PDF report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10160813" y="541324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23D2A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233965" y="5413248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5E9"/>
                </a:solidFill>
              </a:rPr>
              <a:t>Bilingual English + Marathi PDF</a:t>
            </a:r>
            <a:endParaRPr lang="en-US" sz="105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2"/>
                </a:solidFill>
              </a:rPr>
              <a:t>Innovation Protected: Registered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0" cy="4343400"/>
          </a:xfrm>
          <a:prstGeom prst="roundRect">
            <a:avLst>
              <a:gd name="adj" fmla="val 2105"/>
            </a:avLst>
          </a:prstGeom>
          <a:solidFill>
            <a:srgbClr val="F7F5E9"/>
          </a:solidFill>
          <a:ln w="38100">
            <a:solidFill>
              <a:srgbClr val="E9B9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81328"/>
            <a:ext cx="6638544" cy="4123944"/>
          </a:xfrm>
          <a:prstGeom prst="roundRect">
            <a:avLst>
              <a:gd name="adj" fmla="val 1552"/>
            </a:avLst>
          </a:prstGeom>
          <a:solidFill>
            <a:srgbClr val="F7F5E9"/>
          </a:solidFill>
          <a:ln w="9525">
            <a:solidFill>
              <a:srgbClr val="C28F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123D2A"/>
          </a:solidFill>
          <a:ln w="12700">
            <a:solidFill>
              <a:srgbClr val="123D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17867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69164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8F12"/>
                </a:solidFill>
              </a:rPr>
              <a:t>REGISTERED DESIGN  ·  ASSOCIATED PROJECT: KRUSHIAI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05740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Agricultural Soil and Crop Storage Monitoring Device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108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95548"/>
                </a:solidFill>
              </a:rPr>
              <a:t>DESIGN REGISTRATION NO.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33756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E7D32"/>
                </a:solidFill>
                <a:latin typeface="+mj-lt"/>
                <a:ea typeface="+mj-lt"/>
                <a:cs typeface="+mj-lt"/>
              </a:rPr>
              <a:t>511438-001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1005840" y="434340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446227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95548"/>
                </a:solidFill>
              </a:rPr>
              <a:t>SERIAL NO.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7548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251878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017520" y="434340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54680" y="446227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95548"/>
                </a:solidFill>
              </a:rPr>
              <a:t>CLASS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154680" y="47548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10-05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029200" y="434340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446227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95548"/>
                </a:solidFill>
              </a:rPr>
              <a:t>REGISTRATION DATE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47548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30 July 2026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726680" y="1371600"/>
            <a:ext cx="3913632" cy="4343400"/>
          </a:xfrm>
          <a:prstGeom prst="roundRect">
            <a:avLst>
              <a:gd name="adj" fmla="val 2336"/>
            </a:avLst>
          </a:prstGeom>
          <a:solidFill>
            <a:srgbClr val="0A2619">
              <a:alpha val="65000"/>
            </a:srgbClr>
          </a:solidFill>
          <a:ln w="19050">
            <a:solidFill>
              <a:srgbClr val="E9B949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9144000" y="2651760"/>
            <a:ext cx="1097280" cy="10972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402" y="2893162"/>
            <a:ext cx="614477" cy="61447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046720" y="3977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5E9"/>
                </a:solidFill>
              </a:rPr>
              <a:t>Space reserved for the official design registration certificate image (if supplied)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B949"/>
                </a:solidFill>
              </a:rPr>
              <a:t>This is a design registration, not a patent. It is an innovation and IP milestone associated with KrushiAI and does not imply protection of every software module.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9C7B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WhatsApp Image 2026-10-14 at 1.23.35 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418590"/>
            <a:ext cx="3657600" cy="4111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2"/>
                </a:solidFill>
              </a:rPr>
              <a:t>Building the Future of Intelligent Farming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0A2619">
              <a:alpha val="80000"/>
            </a:srgbClr>
          </a:solidFill>
          <a:ln w="15875">
            <a:solidFill>
              <a:srgbClr val="78B9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B949"/>
                </a:solidFill>
              </a:rPr>
              <a:t>CONCLUSION  ·  TODAY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480560" cy="3977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7F5E9"/>
                </a:solidFill>
              </a:rPr>
              <a:t>KrushiAI combines soil information, machine learning and location-related analysis in a farmer-oriented workflow.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7F5E9"/>
                </a:solidFill>
              </a:rPr>
              <a:t>It provides AI-supported crop recommendations based on the supported inputs.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7F5E9"/>
                </a:solidFill>
              </a:rPr>
              <a:t>Soil analysis and recommendation reports are available in English and bilingual English + Marathi formats.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7F5E9"/>
                </a:solidFill>
              </a:rPr>
              <a:t>It shows how AI and IoT can contribute to digital agriculture.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3749040"/>
            <a:ext cx="365760" cy="0"/>
          </a:xfrm>
          <a:prstGeom prst="line">
            <a:avLst/>
          </a:prstGeom>
          <a:noFill/>
          <a:ln w="444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6080760" y="1417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B949"/>
                </a:solidFill>
              </a:rPr>
              <a:t>FUTURE SCOPE  ·  NEXT  (planned enhancements, not yet implemented)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207568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17627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766560" y="187452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Field validation with agronomy experts and farmers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51976" y="182880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61704" y="207568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17627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37776" y="187452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Broader sensor calibration and testing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292608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90488" y="317296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2735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66560" y="297180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More robust location-specific recommendations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951976" y="292608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61704" y="317296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327355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637776" y="297180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Verified live weather and market data integration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080760" y="402336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90488" y="427024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3708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66560" y="406908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Additional Indian-language support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951976" y="402336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061704" y="427024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437083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637776" y="406908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Explainable AI and improved model evaluation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080760" y="512064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190488" y="536752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468112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766560" y="51663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Mobile-friendly or offline-capable access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8951976" y="5120640"/>
            <a:ext cx="2706624" cy="960120"/>
          </a:xfrm>
          <a:prstGeom prst="roundRect">
            <a:avLst>
              <a:gd name="adj" fmla="val 9524"/>
            </a:avLst>
          </a:prstGeom>
          <a:solidFill>
            <a:srgbClr val="F7F5E9">
              <a:alpha val="9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9061704" y="536752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5468112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637776" y="51663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Market price and profit decision support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9C7B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78B947"/>
          </a:solidFill>
          <a:ln w="12700">
            <a:solidFill>
              <a:srgbClr val="78B94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035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Krushi</a:t>
            </a:r>
            <a:r>
              <a:rPr lang="en-US" sz="2400" b="1" dirty="0">
                <a:solidFill>
                  <a:srgbClr val="78B947"/>
                </a:solidFill>
                <a:latin typeface="+mj-lt"/>
                <a:ea typeface="+mj-lt"/>
                <a:cs typeface="+mj-lt"/>
              </a:rPr>
              <a:t>AI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THANK YOU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9B949"/>
                </a:solidFill>
              </a:rPr>
              <a:t>KrushiAI — From Crop Selection to Market Profit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3192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7F5E9"/>
                </a:solidFill>
              </a:rPr>
              <a:t>Empowering smarter farming through soil intelligence and AI.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6634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78B9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E3B0"/>
                </a:solidFill>
              </a:rPr>
              <a:t>Department of Electronics and Computer Engineering  |  Sanjivani College of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ushiAI">
  <a:themeElements>
    <a:clrScheme name="KrushiAI">
      <a:dk1>
        <a:srgbClr val="123D2A"/>
      </a:dk1>
      <a:lt1>
        <a:srgbClr val="FFFFFF"/>
      </a:lt1>
      <a:dk2>
        <a:srgbClr val="795548"/>
      </a:dk2>
      <a:lt2>
        <a:srgbClr val="F7F5E9"/>
      </a:lt2>
      <a:accent1>
        <a:srgbClr val="2E7D32"/>
      </a:accent1>
      <a:accent2>
        <a:srgbClr val="78B947"/>
      </a:accent2>
      <a:accent3>
        <a:srgbClr val="E9B949"/>
      </a:accent3>
      <a:accent4>
        <a:srgbClr val="795548"/>
      </a:accent4>
      <a:accent5>
        <a:srgbClr val="0A2619"/>
      </a:accent5>
      <a:accent6>
        <a:srgbClr val="C8E3B0"/>
      </a:accent6>
      <a:hlink>
        <a:srgbClr val="2E7D32"/>
      </a:hlink>
      <a:folHlink>
        <a:srgbClr val="795548"/>
      </a:folHlink>
    </a:clrScheme>
    <a:fontScheme name="Krushi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rushiAI">
  <a:themeElements>
    <a:clrScheme name="KrushiAI">
      <a:dk1>
        <a:srgbClr val="123D2A"/>
      </a:dk1>
      <a:lt1>
        <a:srgbClr val="FFFFFF"/>
      </a:lt1>
      <a:dk2>
        <a:srgbClr val="795548"/>
      </a:dk2>
      <a:lt2>
        <a:srgbClr val="F7F5E9"/>
      </a:lt2>
      <a:accent1>
        <a:srgbClr val="2E7D32"/>
      </a:accent1>
      <a:accent2>
        <a:srgbClr val="78B947"/>
      </a:accent2>
      <a:accent3>
        <a:srgbClr val="E9B949"/>
      </a:accent3>
      <a:accent4>
        <a:srgbClr val="795548"/>
      </a:accent4>
      <a:accent5>
        <a:srgbClr val="0A2619"/>
      </a:accent5>
      <a:accent6>
        <a:srgbClr val="C8E3B0"/>
      </a:accent6>
      <a:hlink>
        <a:srgbClr val="2E7D32"/>
      </a:hlink>
      <a:folHlink>
        <a:srgbClr val="795548"/>
      </a:folHlink>
    </a:clrScheme>
    <a:fontScheme name="Krushi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6093</Words>
  <Application>WPS Presentation</Application>
  <PresentationFormat>On-screen Show (16:9)</PresentationFormat>
  <Paragraphs>422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Nirmala UI</vt:lpstr>
      <vt:lpstr>KrushiAI</vt:lpstr>
      <vt:lpstr>PowerPoint 演示文稿</vt:lpstr>
      <vt:lpstr>Presentation Roadmap</vt:lpstr>
      <vt:lpstr>Why Smart Crop Selection Matters</vt:lpstr>
      <vt:lpstr>Our Vision: Smarter Decisions for Every Field</vt:lpstr>
      <vt:lpstr>From Soil Signals to Intelligent Recommendations</vt:lpstr>
      <vt:lpstr>Understanding the Soil Beneath Every Crop</vt:lpstr>
      <vt:lpstr>How KrushiAI Recommends Crops</vt:lpstr>
      <vt:lpstr>From Field Inputs to Farmer-Friendly Reports</vt:lpstr>
      <vt:lpstr>Innovation Protected: Registered Design</vt:lpstr>
      <vt:lpstr>Building the Future of Intelligent Farming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KrushiAI - Industry 4.0 PBL</dc:title>
  <dc:creator>Sakshi Zurale, Sakshi Thakare</dc:creator>
  <dc:subject>PptxGenJS Presentation</dc:subject>
  <cp:lastModifiedBy>WPS_1762179437</cp:lastModifiedBy>
  <cp:revision>3</cp:revision>
  <dcterms:created xsi:type="dcterms:W3CDTF">2026-10-14T01:24:00Z</dcterms:created>
  <dcterms:modified xsi:type="dcterms:W3CDTF">2026-10-14T08:48:45Z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681B678F31D9411195EFDC3D3280C697_12</vt:lpwstr>
  </property>
  <property fmtid="{D5CDD505-2E9C-101B-9397-08002B2CF9AE}" pid="3" name="KSOProductBuildVer">
    <vt:lpwstr>1033-12.1.0.28485</vt:lpwstr>
  </property>
</Properties>
</file>